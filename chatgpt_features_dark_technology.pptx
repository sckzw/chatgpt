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4a3cbdd2614f9d" /><Relationship Type="http://schemas.openxmlformats.org/officeDocument/2006/relationships/extended-properties" Target="/docProps/app.xml" Id="R36aad62ea4b84b61" /><Relationship Type="http://schemas.openxmlformats.org/officeDocument/2006/relationships/officeDocument" Target="/ppt/presentation.xml" Id="R6f355b1f71aa42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0c51c88fa043c0"/>
  </p:sldMasterIdLst>
  <p:notesMasterIdLst>
    <p:notesMasterId xmlns:r="http://schemas.openxmlformats.org/officeDocument/2006/relationships" r:id="Rb071a4d8fb1e4c2e"/>
  </p:notesMasterIdLst>
  <p:sldIdLst>
    <p:sldId xmlns:r="http://schemas.openxmlformats.org/officeDocument/2006/relationships" id="256" r:id="R7513795232c5440c"/>
    <p:sldId xmlns:r="http://schemas.openxmlformats.org/officeDocument/2006/relationships" id="257" r:id="R9635ee92e3514830"/>
    <p:sldId xmlns:r="http://schemas.openxmlformats.org/officeDocument/2006/relationships" id="258" r:id="Re620f6bd55fb4246"/>
    <p:sldId xmlns:r="http://schemas.openxmlformats.org/officeDocument/2006/relationships" id="259" r:id="R63f31a4b22554499"/>
    <p:sldId xmlns:r="http://schemas.openxmlformats.org/officeDocument/2006/relationships" id="260" r:id="R1c837be2f0af4c93"/>
    <p:sldId xmlns:r="http://schemas.openxmlformats.org/officeDocument/2006/relationships" id="261" r:id="R0d06065b77c3490c"/>
    <p:sldId xmlns:r="http://schemas.openxmlformats.org/officeDocument/2006/relationships" id="262" r:id="R5e203a07758c497c"/>
    <p:sldId xmlns:r="http://schemas.openxmlformats.org/officeDocument/2006/relationships" id="263" r:id="R0acd14d10fa84c71"/>
    <p:sldId xmlns:r="http://schemas.openxmlformats.org/officeDocument/2006/relationships" id="264" r:id="Rfeedfe6ba4c24d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d9166530cb4923" /><Relationship Type="http://schemas.openxmlformats.org/officeDocument/2006/relationships/slideMaster" Target="/ppt/slideMasters/slideMaster1.xml" Id="R1a0c51c88fa043c0" /><Relationship Type="http://schemas.openxmlformats.org/officeDocument/2006/relationships/notesMaster" Target="/ppt/notesMasters/notesMaster1.xml" Id="Rb071a4d8fb1e4c2e" /><Relationship Type="http://schemas.openxmlformats.org/officeDocument/2006/relationships/presProps" Target="/ppt/presProps.xml" Id="R6920abe7a5714912" /><Relationship Type="http://schemas.openxmlformats.org/officeDocument/2006/relationships/tableStyles" Target="/ppt/tableStyles.xml" Id="R5989d019ee98408e" /><Relationship Type="http://schemas.openxmlformats.org/officeDocument/2006/relationships/slide" Target="/ppt/slides/slide1.xml" Id="R7513795232c5440c" /><Relationship Type="http://schemas.openxmlformats.org/officeDocument/2006/relationships/slide" Target="/ppt/slides/slide2.xml" Id="R9635ee92e3514830" /><Relationship Type="http://schemas.openxmlformats.org/officeDocument/2006/relationships/slide" Target="/ppt/slides/slide3.xml" Id="Re620f6bd55fb4246" /><Relationship Type="http://schemas.openxmlformats.org/officeDocument/2006/relationships/slide" Target="/ppt/slides/slide4.xml" Id="R63f31a4b22554499" /><Relationship Type="http://schemas.openxmlformats.org/officeDocument/2006/relationships/slide" Target="/ppt/slides/slide5.xml" Id="R1c837be2f0af4c93" /><Relationship Type="http://schemas.openxmlformats.org/officeDocument/2006/relationships/slide" Target="/ppt/slides/slide6.xml" Id="R0d06065b77c3490c" /><Relationship Type="http://schemas.openxmlformats.org/officeDocument/2006/relationships/slide" Target="/ppt/slides/slide7.xml" Id="R5e203a07758c497c" /><Relationship Type="http://schemas.openxmlformats.org/officeDocument/2006/relationships/slide" Target="/ppt/slides/slide8.xml" Id="R0acd14d10fa84c71" /><Relationship Type="http://schemas.openxmlformats.org/officeDocument/2006/relationships/slide" Target="/ppt/slides/slide9.xml" Id="Rfeedfe6ba4c24d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3d1a38f0e947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936cd9a1714a8c" /><Relationship Type="http://schemas.openxmlformats.org/officeDocument/2006/relationships/notesMaster" Target="/ppt/notesMasters/notesMaster1.xml" Id="R3f26517ed0a442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6f4ac9672e4411" /><Relationship Type="http://schemas.openxmlformats.org/officeDocument/2006/relationships/notesMaster" Target="/ppt/notesMasters/notesMaster1.xml" Id="Rc4c916ca6de04b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7db8f44ce34ac1" /><Relationship Type="http://schemas.openxmlformats.org/officeDocument/2006/relationships/notesMaster" Target="/ppt/notesMasters/notesMaster1.xml" Id="Rb69ed26a1a024d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bb1666d2914952" /><Relationship Type="http://schemas.openxmlformats.org/officeDocument/2006/relationships/notesMaster" Target="/ppt/notesMasters/notesMaster1.xml" Id="R99b4bb7a42a74a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3de6b0fd564eff" /><Relationship Type="http://schemas.openxmlformats.org/officeDocument/2006/relationships/notesMaster" Target="/ppt/notesMasters/notesMaster1.xml" Id="R6ecb714f0fda46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e3c6b64a92408d" /><Relationship Type="http://schemas.openxmlformats.org/officeDocument/2006/relationships/notesMaster" Target="/ppt/notesMasters/notesMaster1.xml" Id="Refe55daa01104d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83b50b71bd4281" /><Relationship Type="http://schemas.openxmlformats.org/officeDocument/2006/relationships/notesMaster" Target="/ppt/notesMasters/notesMaster1.xml" Id="Rc8da1b233bb24d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cc0bd4f9ce4e2d" /><Relationship Type="http://schemas.openxmlformats.org/officeDocument/2006/relationships/notesMaster" Target="/ppt/notesMasters/notesMaster1.xml" Id="Rdeefde3f25e54a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3c2f3c1e4a44bf" /><Relationship Type="http://schemas.openxmlformats.org/officeDocument/2006/relationships/notesMaster" Target="/ppt/notesMasters/notesMaster1.xml" Id="R413d599a9c69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97eef29dd44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8ba0edc8d64923" /><Relationship Type="http://schemas.openxmlformats.org/officeDocument/2006/relationships/slideLayout" Target="/ppt/slideLayouts/slideLayout1.xml" Id="R2943236b1cf14c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43236b1cf14c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5ca97ddbc4079" /><Relationship Type="http://schemas.openxmlformats.org/officeDocument/2006/relationships/notesSlide" Target="/ppt/notesSlides/notesSlide1.xml" Id="Rc360d60a92cc4c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b65cc67dc49fd" /><Relationship Type="http://schemas.openxmlformats.org/officeDocument/2006/relationships/notesSlide" Target="/ppt/notesSlides/notesSlide2.xml" Id="R81f5b57f402349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f6004ef424219" /><Relationship Type="http://schemas.openxmlformats.org/officeDocument/2006/relationships/notesSlide" Target="/ppt/notesSlides/notesSlide3.xml" Id="R81119673b0fc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47f8fbfb84722" /><Relationship Type="http://schemas.openxmlformats.org/officeDocument/2006/relationships/notesSlide" Target="/ppt/notesSlides/notesSlide4.xml" Id="R51bb8218752540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937a3536b4740" /><Relationship Type="http://schemas.openxmlformats.org/officeDocument/2006/relationships/notesSlide" Target="/ppt/notesSlides/notesSlide5.xml" Id="Rece964ccb50f4b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9a6fbcad540d4" /><Relationship Type="http://schemas.openxmlformats.org/officeDocument/2006/relationships/notesSlide" Target="/ppt/notesSlides/notesSlide6.xml" Id="R3443a93f874449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57c3c0c924f65" /><Relationship Type="http://schemas.openxmlformats.org/officeDocument/2006/relationships/notesSlide" Target="/ppt/notesSlides/notesSlide7.xml" Id="R8e57abaabf0445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a78af973a460e" /><Relationship Type="http://schemas.openxmlformats.org/officeDocument/2006/relationships/notesSlide" Target="/ppt/notesSlides/notesSlide8.xml" Id="Rdc62a260e0c949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79f7c75d645c0" /><Relationship Type="http://schemas.openxmlformats.org/officeDocument/2006/relationships/notesSlide" Target="/ppt/notesSlides/notesSlide9.xml" Id="R4b2186dae0b040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5449E5-FF21-45BD-9EE4-66ED40A7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6FF"/>
                </a:solidFill>
              </a:defRPr>
            </a:pPr>
            <a:r>
              <a:rPr sz="825" b="1">
                <a:solidFill>
                  <a:srgbClr val="27D6FF"/>
                </a:solidFill>
              </a:rPr>
              <a:t>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8C2DC-E152-4C37-BEA1-8A8BCF58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8C8"/>
                </a:solidFill>
              </a:defRPr>
            </a:pPr>
            <a:r>
              <a:rPr sz="825" b="1">
                <a:solidFill>
                  <a:srgbClr val="AAB8C8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BA391-7515-4939-BA1D-DD1BACDD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6010E-F8CF-4A32-870C-564FF7EF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EBD4D-17FC-4D36-92A2-7B0CA0C4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28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CHATGPT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7EAB2-5088-42E1-9BD1-7D4DD1D0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</a:defRPr>
            </a:pPr>
            <a:r>
              <a:rPr sz="3000" b="1">
                <a:solidFill>
                  <a:srgbClr val="F7FAFC"/>
                </a:solidFill>
              </a:rPr>
              <a:t>本日の内容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C078A-94C6-4CCA-881F-7B7CC41C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0EAF1-01CB-4E2D-A5C2-CE1B77FC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D6FF"/>
                </a:solidFill>
              </a:defRPr>
            </a:pPr>
            <a:r>
              <a:rPr sz="1650" b="1">
                <a:solidFill>
                  <a:srgbClr val="27D6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51979-ECCD-4062-BEBE-2F23B150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971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EB7E9-9C34-4C33-ACAC-31D3FB14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049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ChatGPTの基本機能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50B3E-578E-4276-93BC-FB968BE3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2882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C8"/>
                </a:solidFill>
              </a:defRPr>
            </a:pPr>
            <a:r>
              <a:rPr sz="1200" b="0">
                <a:solidFill>
                  <a:srgbClr val="AAB8C8"/>
                </a:solidFill>
              </a:rPr>
              <a:t>チャット / Work / プロジェクト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52440-A610-4A8D-A7A3-5796433D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D6FF"/>
                </a:solidFill>
              </a:defRPr>
            </a:pPr>
            <a:r>
              <a:rPr sz="1650" b="1">
                <a:solidFill>
                  <a:srgbClr val="27D6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A632C-FB4D-48E1-92F7-04D88D66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908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8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42117-AA64-4DA6-A258-610D8DF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241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Codexの基本と使い方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95703-08EA-4E0F-AE07-5CFCD4C9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479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C8"/>
                </a:solidFill>
              </a:defRPr>
            </a:pPr>
            <a:r>
              <a:rPr sz="1200" b="0">
                <a:solidFill>
                  <a:srgbClr val="AAB8C8"/>
                </a:solidFill>
              </a:rPr>
              <a:t>コーディングエージェント / VS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B9167-5441-4EA0-87DB-8F5425F9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D6FF"/>
                </a:solidFill>
              </a:defRPr>
            </a:pPr>
            <a:r>
              <a:rPr sz="1650" b="1">
                <a:solidFill>
                  <a:srgbClr val="27D6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BDEF4-E3E0-4BE5-BB66-45A26C94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099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8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91217-B959-4185-ADE2-9E6B46B8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432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GPT-5.6のモデル選び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46C90-55A2-4767-9188-31B837AC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6712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C8"/>
                </a:solidFill>
              </a:defRPr>
            </a:pPr>
            <a:r>
              <a:rPr sz="1200" b="0">
                <a:solidFill>
                  <a:srgbClr val="AAB8C8"/>
                </a:solidFill>
              </a:rPr>
              <a:t>Sol / Terra / Luna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50DA7-FAE2-4423-A8C3-C3628BAD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D6FF"/>
                </a:solidFill>
              </a:defRPr>
            </a:pPr>
            <a:r>
              <a:rPr sz="1650" b="1">
                <a:solidFill>
                  <a:srgbClr val="27D6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43271-6B85-419B-951D-C640C528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4291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8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8DC60-285B-4F5B-BBEB-5E6AEECA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外部機能との接続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40FB7-EE4E-489A-9821-504A2520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862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C8"/>
                </a:solidFill>
              </a:defRPr>
            </a:pPr>
            <a:r>
              <a:rPr sz="1200" b="0">
                <a:solidFill>
                  <a:srgbClr val="AAB8C8"/>
                </a:solidFill>
              </a:rPr>
              <a:t>MCP / スキャナとの接続例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80144-20DF-4161-872D-5F44364C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D6FF"/>
                </a:solidFill>
              </a:defRPr>
            </a:pPr>
            <a:r>
              <a:rPr sz="1650" b="1">
                <a:solidFill>
                  <a:srgbClr val="27D6FF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4C4C1-B7A0-43DE-B159-2818649C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2482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8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70C40-82BC-4837-8A43-1DF57B50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815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長い作業を続けるための基礎知識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9C0089-4CDF-4FFC-B24B-919311EE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0542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C8"/>
                </a:solidFill>
              </a:defRPr>
            </a:pPr>
            <a:r>
              <a:rPr sz="1200" b="0">
                <a:solidFill>
                  <a:srgbClr val="AAB8C8"/>
                </a:solidFill>
              </a:rPr>
              <a:t>コンテキストウィンドウ / コンパクション</a:t>
            </a:r>
          </a:p>
        </p:txBody>
      </p:sp>
    </p:spTree>
    <p:extLst>
      <p:ext uri="{BB962C8B-B14F-4D97-AF65-F5344CB8AC3E}">
        <p14:creationId xmlns:p14="http://schemas.microsoft.com/office/powerpoint/2010/main" val="1052168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7CB5FB-7E76-4329-B488-80759B37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6FF"/>
                </a:solidFill>
              </a:defRPr>
            </a:pPr>
            <a:r>
              <a:rPr sz="825" b="1">
                <a:solidFill>
                  <a:srgbClr val="27D6FF"/>
                </a:solidFill>
              </a:rPr>
              <a:t>CHAT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DAB8B-D0FA-49E5-A921-A2E07A20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8C8"/>
                </a:solidFill>
              </a:defRPr>
            </a:pPr>
            <a:r>
              <a:rPr sz="825" b="1">
                <a:solidFill>
                  <a:srgbClr val="AAB8C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F4091-48C4-4002-8098-4BF663FD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65B38-A9F6-4583-A791-996D16D4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D438A-6D77-4D84-862A-166A4D46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28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CHATGPT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57839-A05F-446B-83A8-45CAFA3A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チャット：AIと会話しながら、考えや文章をまとめる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69D33-66C1-4BC4-B39A-7940B498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5525D-BC4F-4FBA-9AC7-4DA0D809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チャットは、ChatGPTの基本となる機能です。人に相談するように質問や依頼を入力すると、AIがその場で回答します。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E83DB-217C-4FA8-A83B-D2E26EBF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質問への回答、文章の下書き、要約、翻訳、アイデア出しなど、日常のさまざまな場面で利用できます。一度の指示ですべてを伝える必要はありません。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3C286-8969-4600-9B09-762427EB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1ECAE-B861-48C2-9D5F-E51DE57E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D6FF"/>
                </a:solidFill>
              </a:defRPr>
            </a:pPr>
            <a:r>
              <a:rPr sz="1200" b="1">
                <a:solidFill>
                  <a:srgbClr val="27D6FF"/>
                </a:solidFill>
              </a:rPr>
              <a:t>最初の依頼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4A31B-DEE1-490E-979F-8E96F22E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042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AFC"/>
                </a:solidFill>
              </a:defRPr>
            </a:pPr>
            <a:r>
              <a:rPr sz="1125" b="0">
                <a:solidFill>
                  <a:srgbClr val="F7FAFC"/>
                </a:solidFill>
              </a:rPr>
              <a:t>来週のチーム会議で取り上げるテーマを5つ提案してください。参加者は、新入社員を含む8人です。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A87D0-D743-457E-B987-7CE4FCA3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F30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09EB6-27A9-4A6D-BEC0-C666E5D3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D6FF"/>
                </a:solidFill>
              </a:defRPr>
            </a:pPr>
            <a:r>
              <a:rPr sz="1200" b="1">
                <a:solidFill>
                  <a:srgbClr val="27D6FF"/>
                </a:solidFill>
              </a:rPr>
              <a:t>回答を見てから追加する依頼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DD4C6-E107-453E-AA6B-A2573E42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AFC"/>
                </a:solidFill>
              </a:defRPr>
            </a:pPr>
            <a:r>
              <a:rPr sz="1125" b="0">
                <a:solidFill>
                  <a:srgbClr val="F7FAFC"/>
                </a:solidFill>
              </a:rPr>
              <a:t>その中から、30分の会議に適したテーマを2つ選び、それぞれの進め方も提案してください。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2AC76-9EA6-4AFE-BAB7-74F599A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57340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07111C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78522-65E6-42CC-BD1B-8043D6D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55054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106DB-A40C-4AAC-8F79-9B19FB8A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A3FC5-679E-45A3-833A-C5D72197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EE6C4-A455-4359-8740-919F488F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D6A2"/>
          </a:solidFill>
          <a:ln xmlns:a="http://schemas.openxmlformats.org/drawingml/2006/main" w="9525">
            <a:solidFill>
              <a:srgbClr val="31D6A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80854-B650-4AD2-8CB1-85EAB2F0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2402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SCREENSHOT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20C97-1A46-4AE5-BA29-A15D0A35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527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34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8FA57-BE88-4CDC-BCB2-0CC2F443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50482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AB8C8"/>
                </a:solidFill>
              </a:defRPr>
            </a:pPr>
            <a:r>
              <a:rPr sz="1350" b="1">
                <a:solidFill>
                  <a:srgbClr val="AAB8C8"/>
                </a:solidFill>
              </a:rPr>
              <a:t>ChatGPTのチャット画面</a:t>
            </a:r>
          </a:p>
          <a:p xmlns:a="http://schemas.openxmlformats.org/drawingml/2006/main">
            <a:pPr algn="ctr">
              <a:defRPr sz="1350" b="1">
                <a:solidFill>
                  <a:srgbClr val="AAB8C8"/>
                </a:solidFill>
              </a:defRPr>
            </a:pPr>
            <a:r>
              <a:rPr sz="1350" b="1">
                <a:solidFill>
                  <a:srgbClr val="AAB8C8"/>
                </a:solidFill>
              </a:rPr>
              <a:t>依頼 → 回答 → 追加の依頼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5BB8E-0798-4A58-9F53-FC52C21B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482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58A"/>
                </a:solidFill>
              </a:defRPr>
            </a:pPr>
            <a:r>
              <a:rPr sz="825" b="0">
                <a:solidFill>
                  <a:srgbClr val="60758A"/>
                </a:solidFill>
              </a:rPr>
              <a:t>実際の画面キャプチャに差し替え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935B5-286E-47F9-8202-8703E02A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依頼する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D5C24C-3AB4-4833-867D-B41DA56F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531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CFF"/>
                </a:solidFill>
              </a:defRPr>
            </a:pPr>
            <a:r>
              <a:rPr sz="1650" b="1">
                <a:solidFill>
                  <a:srgbClr val="248CFF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39976A-AEAB-4EF0-85B5-38A6A73F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53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回答を見る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054B0-F9E1-4686-932C-88ED5D4C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7531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CFF"/>
                </a:solidFill>
              </a:defRPr>
            </a:pPr>
            <a:r>
              <a:rPr sz="1650" b="1">
                <a:solidFill>
                  <a:srgbClr val="248CFF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052311-907E-4149-B6E0-2971A2A6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希望を追加する</a:t>
            </a:r>
          </a:p>
        </p:txBody>
      </p:sp>
    </p:spTree>
    <p:extLst>
      <p:ext uri="{BB962C8B-B14F-4D97-AF65-F5344CB8AC3E}">
        <p14:creationId xmlns:p14="http://schemas.microsoft.com/office/powerpoint/2010/main" val="312846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E4E532-27A1-48F1-A663-3FCFB679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6FF"/>
                </a:solidFill>
              </a:defRPr>
            </a:pPr>
            <a:r>
              <a:rPr sz="825" b="1">
                <a:solidFill>
                  <a:srgbClr val="27D6FF"/>
                </a:solidFill>
              </a:rPr>
              <a:t>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CFFB8-A6DE-4FC6-9004-514C9056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8C8"/>
                </a:solidFill>
              </a:defRPr>
            </a:pPr>
            <a:r>
              <a:rPr sz="825" b="1">
                <a:solidFill>
                  <a:srgbClr val="AAB8C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D566A-6DD6-44D6-B85A-5292433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4E994-6711-44B7-B900-D4551603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0AA0F-4FED-413B-B651-CBCECB3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28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CHATGPT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D40F2-959B-4E52-87C6-A61ED50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Work：調査した内容を、文書やスライドにまとめる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77CEB-20B2-496F-BDFE-550FCD5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97B4A-5E8C-4B2C-9CAF-50E36836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</a:defRPr>
            </a:pPr>
            <a:r>
              <a:rPr sz="1350" b="0">
                <a:solidFill>
                  <a:srgbClr val="F7FAFC"/>
                </a:solidFill>
              </a:rPr>
              <a:t>Workは、情報を調べるところから、成果物を完成させるところまでをまとめて進める機能です。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76D51-6DDD-4EDD-85A3-C0DFA910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Webページや添付資料を読み、必要な情報を整理して、文書、スライド、表などを作成します。作業の途中で資料を追加したり、成果物を見ながら修正を依頼したりできます。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00EA9-6362-4797-A411-C8BCD369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D6FF"/>
                </a:solidFill>
              </a:defRPr>
            </a:pPr>
            <a:r>
              <a:rPr sz="1500" b="1">
                <a:solidFill>
                  <a:srgbClr val="27D6FF"/>
                </a:solidFill>
              </a:rPr>
              <a:t>基本的な使い方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8BB96-8D5D-493F-B066-C8739434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21F4D-C731-4FC2-B9D2-317698D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FA0B0-3143-4E80-A137-8355D5D0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何を作り、何に使うのかを伝える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A23FF-A54F-4DC4-92A9-761D61CF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F3F4D-A89A-42FA-8ED0-2AB7CC8A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4D5B0-7701-4C75-8DB1-E8E19332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参考資料や条件を追加する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BA0BD-3476-4EA8-8655-9FEA7A80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BC291-A1D5-483B-8532-6FF1220E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60F88-970F-495F-BC4A-8B3DFF60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調査結果と情報の出どころを確認する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55317-9687-4D13-9E32-84D16758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A023E-EBE8-438A-BC1E-6E2CDA66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E2E36-DBF6-48DA-91E1-ED6E342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作成された成果物を開いて修正を依頼する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10FE4-E2A4-445F-9807-122D573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FFFC4-F4C6-4347-BD86-7F2DF194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9449C-9A8B-4EBB-B223-6691AF8F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8160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完成したファイルを保存・共有する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AF1A4-DD0E-4B18-8D21-C0EC29E8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56388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07111C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183149-A879-4048-A8C0-20507702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76400"/>
            <a:ext cx="5410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0911C-CC57-4669-9E46-C96186F7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358AB8-7C6B-485B-91CE-71B09D17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25DCD5-3E73-4EE3-8CEB-846D59B1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D6A2"/>
          </a:solidFill>
          <a:ln xmlns:a="http://schemas.openxmlformats.org/drawingml/2006/main" w="9525">
            <a:solidFill>
              <a:srgbClr val="31D6A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B85EBF-A08D-4A4B-B8F9-41F6870E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0497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SCREENSHOT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539E3-B573-48A2-AE45-5A50D579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8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34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F66339-4EAE-4594-AD08-E6CD0693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9530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AB8C8"/>
                </a:solidFill>
              </a:defRPr>
            </a:pPr>
            <a:r>
              <a:rPr sz="1350" b="1">
                <a:solidFill>
                  <a:srgbClr val="AAB8C8"/>
                </a:solidFill>
              </a:rPr>
              <a:t>ChatGPT Workの画面</a:t>
            </a:r>
          </a:p>
          <a:p xmlns:a="http://schemas.openxmlformats.org/drawingml/2006/main">
            <a:pPr algn="ctr">
              <a:defRPr sz="1350" b="1">
                <a:solidFill>
                  <a:srgbClr val="AAB8C8"/>
                </a:solidFill>
              </a:defRPr>
            </a:pPr>
            <a:r>
              <a:rPr sz="1350" b="1">
                <a:solidFill>
                  <a:srgbClr val="AAB8C8"/>
                </a:solidFill>
              </a:rPr>
              <a:t>成果物とソースが見える状態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4DC13C-E878-43D3-9AFF-19F3D819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33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58A"/>
                </a:solidFill>
              </a:defRPr>
            </a:pPr>
            <a:r>
              <a:rPr sz="825" b="0">
                <a:solidFill>
                  <a:srgbClr val="60758A"/>
                </a:solidFill>
              </a:rPr>
              <a:t>実際の画面キャプチャに差し替え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68898-13C7-4EF7-AFC4-6B38F740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05450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F30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CCA575-EEEF-4ABB-8EA0-045BBA61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0225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成果物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BB5CE2-E70E-4463-996A-00D4768B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102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</a:defRPr>
            </a:pPr>
            <a:r>
              <a:rPr sz="975" b="0">
                <a:solidFill>
                  <a:srgbClr val="F7FAFC"/>
                </a:solidFill>
              </a:rPr>
              <a:t>文書 / スライド / 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8D1734-6656-4BA4-AECC-6C13E962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05450"/>
            <a:ext cx="2819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F933D6-BDBA-44B8-B8D7-365A49EF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102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D6A2"/>
                </a:solidFill>
              </a:defRPr>
            </a:pPr>
            <a:r>
              <a:rPr sz="1125" b="1">
                <a:solidFill>
                  <a:srgbClr val="31D6A2"/>
                </a:solidFill>
              </a:rPr>
              <a:t>ソース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D2FE23-8127-4730-A976-EDC0BCD0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6102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</a:defRPr>
            </a:pPr>
            <a:r>
              <a:rPr sz="975" b="0">
                <a:solidFill>
                  <a:srgbClr val="F7FAFC"/>
                </a:solidFill>
              </a:rPr>
              <a:t>Web / 添付資料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45725D-079C-4F8F-9EDA-7FFE109C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43625"/>
            <a:ext cx="563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8C8"/>
                </a:solidFill>
              </a:defRPr>
            </a:pPr>
            <a:r>
              <a:rPr sz="900" b="0">
                <a:solidFill>
                  <a:srgbClr val="AAB8C8"/>
                </a:solidFill>
              </a:rPr>
              <a:t>重要な数値や事実は、ソースを開いて確認します。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371455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0CF0AE-540C-493C-8300-2B813DD5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6FF"/>
                </a:solidFill>
              </a:defRPr>
            </a:pPr>
            <a:r>
              <a:rPr sz="825" b="1">
                <a:solidFill>
                  <a:srgbClr val="27D6FF"/>
                </a:solidFill>
              </a:rPr>
              <a:t>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D161D-C29E-4D24-B6D0-555A44FF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8C8"/>
                </a:solidFill>
              </a:defRPr>
            </a:pPr>
            <a:r>
              <a:rPr sz="825" b="1">
                <a:solidFill>
                  <a:srgbClr val="AAB8C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6A10C-75D2-4CB9-AF4C-E18187E5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3B3EE-0CDE-4CE6-91DC-F8A9F9E7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73C2C-5082-45AF-B3AB-9B732D2E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28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CHATGPT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7A4C4-8490-43B9-A0CC-642522DD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プロジェクト：仕事ごとにチャット・資料・指示をまとめる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2E753-BFDC-4302-AF2B-8540449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B7E8F-5F17-44E1-89E6-8601CF21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09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ChatGPTアプリでは、テーマや仕事ごとに「プロジェクト」を作成できます。プロジェクトを開くと、その仕事に関係する情報をひとつの場所にまとめて管理できます。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29445-27FB-4986-A789-E93AB225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095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219C3-9BA1-411B-B849-9FCA5F71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チャット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77FAA-E1F8-4961-95D0-0FF2956B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5745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C8"/>
                </a:solidFill>
              </a:defRPr>
            </a:pPr>
            <a:r>
              <a:rPr sz="975" b="0">
                <a:solidFill>
                  <a:srgbClr val="AAB8C8"/>
                </a:solidFill>
              </a:rPr>
              <a:t>その仕事についてChatGPTとやり取りした履歴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4527D-EE32-4FF5-AD94-68CC8330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5095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F30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CDA2D-1234-4076-B690-B378F932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D6FF"/>
                </a:solidFill>
              </a:defRPr>
            </a:pPr>
            <a:r>
              <a:rPr sz="1275" b="1">
                <a:solidFill>
                  <a:srgbClr val="27D6FF"/>
                </a:solidFill>
              </a:rPr>
              <a:t>ファイル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BE108-41E0-44A1-A700-D34D56A4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9565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C8"/>
                </a:solidFill>
              </a:defRPr>
            </a:pPr>
            <a:r>
              <a:rPr sz="975" b="0">
                <a:solidFill>
                  <a:srgbClr val="AAB8C8"/>
                </a:solidFill>
              </a:rPr>
              <a:t>PDF、Word、PowerPoint、Excel、画像、データファイルなど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C0EC1-D82D-415C-BFED-24BB3693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5095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765A5-F702-4F5D-9FA2-EDE5A4D8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指示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09760-AD6F-4E46-B411-15560E3D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3385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C8"/>
                </a:solidFill>
              </a:defRPr>
            </a:pPr>
            <a:r>
              <a:rPr sz="975" b="0">
                <a:solidFill>
                  <a:srgbClr val="AAB8C8"/>
                </a:solidFill>
              </a:rPr>
              <a:t>文体、用語、判断基準、毎回守ってほしいルール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F262E-8464-415B-BCBF-CCAB5816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56388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07111C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F06CF-FE90-4E9B-8990-190E4762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76400"/>
            <a:ext cx="5410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23C6B-1AF8-4689-840B-22B11E75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E55D6-B2F1-4D00-87FD-4D474C13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17586-84C1-4A4C-BD1F-F293894E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D6A2"/>
          </a:solidFill>
          <a:ln xmlns:a="http://schemas.openxmlformats.org/drawingml/2006/main" w="9525">
            <a:solidFill>
              <a:srgbClr val="31D6A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9CDD0-52A9-4B4D-BF96-4C96F186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0497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SCREENSHOT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7FACA0-52BA-4602-8869-C8D4E7F5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8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3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A9AE7-3797-48D0-A638-7DD5A57D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9530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AB8C8"/>
                </a:solidFill>
              </a:defRPr>
            </a:pPr>
            <a:r>
              <a:rPr sz="1350" b="1">
                <a:solidFill>
                  <a:srgbClr val="AAB8C8"/>
                </a:solidFill>
              </a:rPr>
              <a:t>ChatGPTアプリのプロジェクト画面</a:t>
            </a:r>
          </a:p>
          <a:p xmlns:a="http://schemas.openxmlformats.org/drawingml/2006/main">
            <a:pPr algn="ctr">
              <a:defRPr sz="1350" b="1">
                <a:solidFill>
                  <a:srgbClr val="AAB8C8"/>
                </a:solidFill>
              </a:defRPr>
            </a:pPr>
            <a:r>
              <a:rPr sz="1350" b="1">
                <a:solidFill>
                  <a:srgbClr val="AAB8C8"/>
                </a:solidFill>
              </a:rPr>
              <a:t>サイドバー / ファイル / 指示 / チャット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5D9686-5D40-4D9B-A43C-27E7526C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38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58A"/>
                </a:solidFill>
              </a:defRPr>
            </a:pPr>
            <a:r>
              <a:rPr sz="825" b="0">
                <a:solidFill>
                  <a:srgbClr val="60758A"/>
                </a:solidFill>
              </a:rPr>
              <a:t>実際の画面キャプチャに差し替え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0938D-19B2-4ABF-8232-5C357992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D6FF"/>
                </a:solidFill>
              </a:defRPr>
            </a:pPr>
            <a:r>
              <a:rPr sz="1350" b="1">
                <a:solidFill>
                  <a:srgbClr val="27D6FF"/>
                </a:solidFill>
              </a:rPr>
              <a:t>ChatGPTアプリでできること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76F8C-BD09-4DA4-B589-2BDAB777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1A3F83-8C8C-4012-B7F2-53341AC7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6DE779-584A-4768-956D-4F7C4D99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サイドバーから新しいプロジェクトを作る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4D0DCB-1176-40B0-8246-A68472F9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FB2917-54E6-4E1E-A11C-A37129A0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353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18CCE-D549-48F8-ACB2-22E3CD37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340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プロジェクト名を付ける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BCDFBE-BC13-47D7-BA68-00A12D06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A0DB7-4445-4016-863C-43C771BD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53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725532-3C67-4EDF-A8C9-67BA41F8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340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関連するファイルやフォルダを追加する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52D63D-0E82-421A-9123-759FA375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BB7166-EC61-43F5-B7EA-573D996A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DAFAF0-CC45-4FE9-A09A-699497C4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340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プロジェクトで共通して使う指示を設定する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CA3CAA-2F44-4F0D-86FE-8996CC44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75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C3FDD6-287A-4A30-8B12-6F62D2E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75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291881-1CE6-4C34-8CCA-FBD887DA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7340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プロジェクト内で新しいチャットを始める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8F4A61-C5E7-4E99-AFE5-A81E1317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5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18E18F-B700-4CC2-87F0-75893656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5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199158-2F2C-492A-B76D-EA21D18E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340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過去のチャットや資料を参照しながら作業を続ける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1924B1-FB68-46EB-AC5B-B7D2ECFC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7220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8C8"/>
                </a:solidFill>
              </a:defRPr>
            </a:pPr>
            <a:r>
              <a:rPr sz="900" b="0">
                <a:solidFill>
                  <a:srgbClr val="AAB8C8"/>
                </a:solidFill>
              </a:rPr>
              <a:t>例：「月次マーケティングレポート」に過去のレポート、用語集、集計データ、文章ルールを入れ、毎月の作業を同じ前提で続ける。</a:t>
            </a:r>
          </a:p>
        </p:txBody>
      </p:sp>
    </p:spTree>
    <p:extLst>
      <p:ext uri="{BB962C8B-B14F-4D97-AF65-F5344CB8AC3E}">
        <p14:creationId xmlns:p14="http://schemas.microsoft.com/office/powerpoint/2010/main" val="2122704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EA91D1-2B8E-4969-B6FD-A80EAB2C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6FF"/>
                </a:solidFill>
              </a:defRPr>
            </a:pPr>
            <a:r>
              <a:rPr sz="825" b="1">
                <a:solidFill>
                  <a:srgbClr val="27D6FF"/>
                </a:solidFill>
              </a:rPr>
              <a:t>CODEX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75780-8110-494E-8851-4C6B3763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8C8"/>
                </a:solidFill>
              </a:defRPr>
            </a:pPr>
            <a:r>
              <a:rPr sz="825" b="1">
                <a:solidFill>
                  <a:srgbClr val="AAB8C8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306D7-4BE3-49EE-BC4C-1FAD34A5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89972-3E7E-488D-BA1E-1EEC27A6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4F871-528B-4810-89F6-BA161A80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28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CHATGPT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5529A-173C-4A42-BD28-4942EF5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Codex：コードを理解し、変更して、動作を確かめる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0C05F-35D1-4245-8A0E-4C7DA98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3012F-5DEE-4E75-A27B-3DB5A402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Codexは、ソフトウェア開発を支援するコーディングエージェントです。コードについて質問に答えるだけでなく、開発中のプロジェクトを調べ、実際にコードを変更し、正しく動くか確認します。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322EC-B7EC-4209-9908-CA1CA221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129BC-B642-4CB9-B4E2-F19FD0D3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74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8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71980-42BF-4502-A0CA-B2B75CC0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コードを理解する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E2481-8660-4B71-A9A3-09B10141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1460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C8"/>
                </a:solidFill>
              </a:defRPr>
            </a:pPr>
            <a:r>
              <a:rPr sz="975" b="0">
                <a:solidFill>
                  <a:srgbClr val="AAB8C8"/>
                </a:solidFill>
              </a:rPr>
              <a:t>複数のファイルを読み、処理の流れや構成を説明する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C023B-E71C-4F94-BE17-4282D6C7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941C3-CC76-4853-A7EF-7429ED9F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8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88D3D-DAE9-4371-8202-E49469CB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不具合を調べる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68BE9-A281-49FD-AE72-6B536E38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C8"/>
                </a:solidFill>
              </a:defRPr>
            </a:pPr>
            <a:r>
              <a:rPr sz="975" b="0">
                <a:solidFill>
                  <a:srgbClr val="AAB8C8"/>
                </a:solidFill>
              </a:rPr>
              <a:t>エラー、ログ、関連コードを確認して原因を特定する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24AAF-6F01-4657-909C-45D23CBB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E90EE-A1C3-4C72-BE74-C02105EF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85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8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B3D3F-3CB7-4472-ACD9-97835A70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957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機能を実装する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92B08-9048-4058-978A-F428E419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9570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C8"/>
                </a:solidFill>
              </a:defRPr>
            </a:pPr>
            <a:r>
              <a:rPr sz="975" b="0">
                <a:solidFill>
                  <a:srgbClr val="AAB8C8"/>
                </a:solidFill>
              </a:rPr>
              <a:t>既存の設計や書き方に合わせてコードを追加・修正する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A5F1F-B9A5-44BF-B25A-1EF29090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2812B-D5FF-418D-A5E3-2CB9503F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8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56A3D-0428-41A4-B348-33CC5004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テストを実行する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0E91E-93DC-4FD7-B717-2099BD2A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C8"/>
                </a:solidFill>
              </a:defRPr>
            </a:pPr>
            <a:r>
              <a:rPr sz="975" b="0">
                <a:solidFill>
                  <a:srgbClr val="AAB8C8"/>
                </a:solidFill>
              </a:rPr>
              <a:t>ビルド、単体テスト、静的解析などを実行する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F735B-6466-4584-8ADE-C4F6CC2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6F077-A3FE-41CE-B922-B115BB94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96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8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231107-D930-4E2A-92CF-E8DDFADA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変更をレビューする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DD67A-C82E-4BDC-B14A-BBC4EE0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7680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C8"/>
                </a:solidFill>
              </a:defRPr>
            </a:pPr>
            <a:r>
              <a:rPr sz="975" b="0">
                <a:solidFill>
                  <a:srgbClr val="AAB8C8"/>
                </a:solidFill>
              </a:rPr>
              <a:t>変更差分、テスト結果、残っている問題を報告する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D23B9A-1AAB-43F2-AE8C-72DAF39F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56388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07111C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0C6CDF-4403-410B-8867-D9ED358B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76400"/>
            <a:ext cx="5410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49D544-433B-4E51-B4A1-31D7CD61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C44A3F-9BB7-468E-B6E6-47FC2C5D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CE7A0-83D4-46A3-8C26-C044B795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D6A2"/>
          </a:solidFill>
          <a:ln xmlns:a="http://schemas.openxmlformats.org/drawingml/2006/main" w="9525">
            <a:solidFill>
              <a:srgbClr val="31D6A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DAD45E-175B-45B4-8FC6-48ADEE69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0497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SCREENSHOT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D654B-B7F4-47F3-B7EB-638EFC45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8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34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7DE71C-4F22-4F36-9137-1EA2A25D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95300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AB8C8"/>
                </a:solidFill>
              </a:defRPr>
            </a:pPr>
            <a:r>
              <a:rPr sz="1350" b="1">
                <a:solidFill>
                  <a:srgbClr val="AAB8C8"/>
                </a:solidFill>
              </a:rPr>
              <a:t>Codexの作業画面</a:t>
            </a:r>
          </a:p>
          <a:p xmlns:a="http://schemas.openxmlformats.org/drawingml/2006/main">
            <a:pPr algn="ctr">
              <a:defRPr sz="1350" b="1">
                <a:solidFill>
                  <a:srgbClr val="AAB8C8"/>
                </a:solidFill>
              </a:defRPr>
            </a:pPr>
            <a:r>
              <a:rPr sz="1350" b="1">
                <a:solidFill>
                  <a:srgbClr val="AAB8C8"/>
                </a:solidFill>
              </a:rPr>
              <a:t>コード差分 / 実行コマンド / テスト結果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B2E76B-6C1B-47A4-9791-21279038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58A"/>
                </a:solidFill>
              </a:defRPr>
            </a:pPr>
            <a:r>
              <a:rPr sz="825" b="0">
                <a:solidFill>
                  <a:srgbClr val="60758A"/>
                </a:solidFill>
              </a:rPr>
              <a:t>実際の画面キャプチャに差し替え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AC0E24-A2E1-46D6-94B7-5A57453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01F30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97E8DF-53F0-4E3E-B53C-69F919A2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70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最終的な変更内容は、利用者がレビューして採用します。</a:t>
            </a:r>
          </a:p>
        </p:txBody>
      </p:sp>
    </p:spTree>
    <p:extLst>
      <p:ext uri="{BB962C8B-B14F-4D97-AF65-F5344CB8AC3E}">
        <p14:creationId xmlns:p14="http://schemas.microsoft.com/office/powerpoint/2010/main" val="1104456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9E8D5B-4574-43BA-870E-8C472A9B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6FF"/>
                </a:solidFill>
              </a:defRPr>
            </a:pPr>
            <a:r>
              <a:rPr sz="825" b="1">
                <a:solidFill>
                  <a:srgbClr val="27D6FF"/>
                </a:solidFill>
              </a:rPr>
              <a:t>VS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94700-63A4-4428-98D2-F17EE4FB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8C8"/>
                </a:solidFill>
              </a:defRPr>
            </a:pPr>
            <a:r>
              <a:rPr sz="825" b="1">
                <a:solidFill>
                  <a:srgbClr val="AAB8C8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75F09-B52C-4C8F-A4B8-E50D3536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6B323-B0FF-4A4D-B295-2552E86A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CED52-6F76-44C8-9E15-A9206F33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28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CHATGPT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CAF3C-6830-422F-AF2E-F29EC3CF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VS CodeでCodexに依頼し、変更内容とテスト結果を確認する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B72E4-F07F-479D-8190-A0AF8CE2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8E353-70BB-4D5D-AE0C-663FBF99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CodexはVS Codeから利用できます。コードを表示したまま依頼できるため、調査、修正、確認をひとつの開発画面で進められます。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4F50A-40D1-4F1C-8167-1E205C5B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409575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81B19-0329-4B79-A147-5CF33BB6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D6FF"/>
                </a:solidFill>
              </a:defRPr>
            </a:pPr>
            <a:r>
              <a:rPr sz="1500" b="1">
                <a:solidFill>
                  <a:srgbClr val="27D6FF"/>
                </a:solidFill>
              </a:rPr>
              <a:t>基本的な流れ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C5709-0321-497B-A45B-B7B50B8E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6119A-BB3C-4FDC-9888-336F9BB5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D95A0-09E5-4DBD-87DA-CE5400FD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VS Codeで作業対象のフォルダを開く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F0FCA-897B-4D66-9E91-B8574293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0B9A9-53C1-42ED-B3B6-4F67D415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54BFB-2D2E-4C7C-84A0-9D15F05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3372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Codexのパネルを開く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213B1-C1E3-406D-B3C8-A3B81B58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19ADC-1D3A-4F56-8CB3-EB99F63D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AB1E9-C3AC-47D9-BDCC-B87D8DC3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問題と期待する結果を伝える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FE306-F9F8-43CE-8879-928A4048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29115-F74A-429F-8EB4-546A8422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D94BF-13F0-484D-B96F-B6BBD956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5287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Codexが関連ファイルを調べ、コードを修正する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E1C28-E5A2-4A99-B478-8864F405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BC9BF-A334-4F81-A0CA-507B8EC1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48673F-B50F-418B-A9E4-95189C08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変更されたファイルと差分を確認する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49667-6D49-4195-AF84-AB6648D6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CFF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40CED-1F48-40E8-A855-0FE2B1F2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EA706-E323-462F-A0CE-509F0941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7202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実行されたテストと結果を確認する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07309-6FE0-4D35-B482-65A01983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71700"/>
            <a:ext cx="67056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07111C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7A1129-CF6C-4BEA-98A0-E96FA1B9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6477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4D2DB0-3E32-4D4C-97E4-A5450BC8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011C23-C8D9-40B2-BEF3-550F7DFC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21F114-E8AF-4D92-8E21-E2C374CA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62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D6A2"/>
          </a:solidFill>
          <a:ln xmlns:a="http://schemas.openxmlformats.org/drawingml/2006/main" w="9525">
            <a:solidFill>
              <a:srgbClr val="31D6A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AADF5-42F9-4E63-BA3C-758D31C8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1457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SCREENSHOT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288C35-2A8F-4000-88CD-F03F16A5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624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34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423660-B9FD-4D57-8826-06CE89F2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95600"/>
            <a:ext cx="601980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AB8C8"/>
                </a:solidFill>
              </a:defRPr>
            </a:pPr>
            <a:r>
              <a:rPr sz="1350" b="1">
                <a:solidFill>
                  <a:srgbClr val="AAB8C8"/>
                </a:solidFill>
              </a:rPr>
              <a:t>VS Codeの画面</a:t>
            </a:r>
          </a:p>
          <a:p xmlns:a="http://schemas.openxmlformats.org/drawingml/2006/main">
            <a:pPr algn="ctr">
              <a:defRPr sz="1350" b="1">
                <a:solidFill>
                  <a:srgbClr val="AAB8C8"/>
                </a:solidFill>
              </a:defRPr>
            </a:pPr>
            <a:r>
              <a:rPr sz="1350" b="1">
                <a:solidFill>
                  <a:srgbClr val="AAB8C8"/>
                </a:solidFill>
              </a:rPr>
              <a:t>コード / Codexパネル / 変更差分 / テスト結果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29D15D-9AAF-4993-BD56-80FAF676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38725"/>
            <a:ext cx="601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58A"/>
                </a:solidFill>
              </a:defRPr>
            </a:pPr>
            <a:r>
              <a:rPr sz="825" b="0">
                <a:solidFill>
                  <a:srgbClr val="60758A"/>
                </a:solidFill>
              </a:rPr>
              <a:t>実際の画面キャプチャに差し替え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EC6D0D-561D-47F6-9B5C-3AD3D4E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0225"/>
            <a:ext cx="110871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F30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384448-FF42-45AF-AB9A-D8011DC9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D6FF"/>
                </a:solidFill>
              </a:defRPr>
            </a:pPr>
            <a:r>
              <a:rPr sz="1050" b="1">
                <a:solidFill>
                  <a:srgbClr val="27D6FF"/>
                </a:solidFill>
              </a:rPr>
              <a:t>依頼の例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379DEE-519D-497A-939B-3368A3EB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57850"/>
            <a:ext cx="633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AFC"/>
                </a:solidFill>
              </a:defRPr>
            </a:pPr>
            <a:r>
              <a:rPr sz="900" b="0">
                <a:solidFill>
                  <a:srgbClr val="F7FAFC"/>
                </a:solidFill>
              </a:rPr>
              <a:t>このページの送信ボタンを押しても反応しません。関連するコードを調べ、原因を説明してから修正してください。修正後にテストも実行し、変更したファイルとテスト結果を報告してください。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D1698F-2157-4A93-B974-3D37D490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57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D6A2"/>
                </a:solidFill>
              </a:defRPr>
            </a:pPr>
            <a:r>
              <a:rPr sz="900" b="1">
                <a:solidFill>
                  <a:srgbClr val="31D6A2"/>
                </a:solidFill>
              </a:rPr>
              <a:t>確認：問題解決 / 不要な変更</a:t>
            </a:r>
          </a:p>
          <a:p xmlns:a="http://schemas.openxmlformats.org/drawingml/2006/main">
            <a:pPr algn="r">
              <a:defRPr sz="900" b="1">
                <a:solidFill>
                  <a:srgbClr val="31D6A2"/>
                </a:solidFill>
              </a:defRPr>
            </a:pPr>
            <a:r>
              <a:rPr sz="900" b="1">
                <a:solidFill>
                  <a:srgbClr val="31D6A2"/>
                </a:solidFill>
              </a:rPr>
              <a:t>テスト / 未完了作業</a:t>
            </a:r>
          </a:p>
        </p:txBody>
      </p:sp>
    </p:spTree>
    <p:extLst>
      <p:ext uri="{BB962C8B-B14F-4D97-AF65-F5344CB8AC3E}">
        <p14:creationId xmlns:p14="http://schemas.microsoft.com/office/powerpoint/2010/main" val="63494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67FF93-E937-4FA3-8788-FA4644B1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6FF"/>
                </a:solidFill>
              </a:defRPr>
            </a:pPr>
            <a:r>
              <a:rPr sz="825" b="1">
                <a:solidFill>
                  <a:srgbClr val="27D6FF"/>
                </a:solidFill>
              </a:rPr>
              <a:t>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18903-6C38-42C6-BBB5-EDBB1BB2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8C8"/>
                </a:solidFill>
              </a:defRPr>
            </a:pPr>
            <a:r>
              <a:rPr sz="825" b="1">
                <a:solidFill>
                  <a:srgbClr val="AAB8C8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5C5F2-0E16-47EB-8981-FC0C378F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979C7-1674-4661-ADD8-B8A71052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FCDF6-EF5E-4A8B-ACB1-4CB66289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28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CHATGPT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6B001-C213-4181-9633-7E97D6A5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AFC"/>
                </a:solidFill>
              </a:defRPr>
            </a:pPr>
            <a:r>
              <a:rPr sz="2475" b="1">
                <a:solidFill>
                  <a:srgbClr val="F7FAFC"/>
                </a:solidFill>
              </a:rPr>
              <a:t>GPT-5.6の3モデルは、仕事の難しさと利用量で選ぶ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07DDA-0B4B-458A-9DAE-5C6818A6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235C6-9092-4753-BACB-F5853D25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GPT-5.6には、Sol、Terra、Lunaの3つのモデルがあります。難しい仕事ほど高性能なモデルが適していますが、消費するクレジットも多くなります。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22709-2732-445F-B9E2-9AB09F2F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0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6BB3A-F6B8-4D23-BFD2-AD1B9A50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モデル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9B165-5579-4D95-A507-8155592D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050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適した仕事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BA10A-4FA6-4A3E-8DF2-5A573C8A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入力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C8182-FFD9-4BA8-850E-D228515C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キャッシュ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50749-A9AC-4629-95FD-8E1D23A1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D6FF"/>
                </a:solidFill>
              </a:defRPr>
            </a:pPr>
            <a:r>
              <a:rPr sz="1125" b="1">
                <a:solidFill>
                  <a:srgbClr val="27D6FF"/>
                </a:solidFill>
              </a:rPr>
              <a:t>出力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6003C-183D-4CED-B37D-2D8B7940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11087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5F347-43CE-431E-8F93-D56E013D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D6FF"/>
                </a:solidFill>
              </a:defRPr>
            </a:pPr>
            <a:r>
              <a:rPr sz="1275" b="1">
                <a:solidFill>
                  <a:srgbClr val="27D6FF"/>
                </a:solidFill>
              </a:rPr>
              <a:t>GPT-5.6 Sol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F49C0-3A20-4093-8D5F-3D3CCD1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複雑な問題、難しい開発、高度な判断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B044B-9F76-485F-A928-47800087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717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100クレジット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DC1BE-CEA1-4F1B-BC2E-E9653A55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10クレジット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BC00E-8583-4E29-AE7C-B29D1DCC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717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500クレジット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EB100-9F0B-40EC-8E67-4F9C24EA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1087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B3A9D-E286-4D67-99CE-6A949993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GPT-5.6 Terra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813A5-366E-4311-A51F-FA44021E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日常的な調査、文書作成、開発作業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EED2A-D3D3-46B4-9654-2566778A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575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50クレジット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0BB61-26D6-4568-8920-848E3AD5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5757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5クレジット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B3A1B7-F9CF-4591-B1B7-70E6D02C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575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300クレジット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1F5C9-9C78-493C-A2A0-82C973ED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6DD19E-949A-462D-8D0A-906DC668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GPT-5.6 Luna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AE640-1358-4B71-B97C-9D3139F0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内容が明確な定型作業、大量処理、素早い確認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586D34-5828-4113-8D2C-3AD90096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433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5クレジット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B38B2-82E1-4839-896C-C7EFD8E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0.5クレジット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4A73EA-1377-456A-BB0B-147D116E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433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30クレジット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5B1BDF-1F50-4312-9E2E-FCD5B9CD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D6FF"/>
                </a:solidFill>
              </a:defRPr>
            </a:pPr>
            <a:r>
              <a:rPr sz="1500" b="1">
                <a:solidFill>
                  <a:srgbClr val="27D6FF"/>
                </a:solidFill>
              </a:rPr>
              <a:t>選び方の目安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44BC3C-80F8-46EE-B68B-44145A6E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8CFF"/>
                </a:solidFill>
              </a:defRPr>
            </a:pPr>
            <a:r>
              <a:rPr sz="975" b="1">
                <a:solidFill>
                  <a:srgbClr val="248CFF"/>
                </a:solidFill>
              </a:rPr>
              <a:t>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03BC68-4476-41DC-AACF-1C6ADB9E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673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Sol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4B022A-2304-4624-B09A-E3E42ECF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判断が難しく、品質を最優先する仕事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C0809F-5FD2-42DC-AEE2-099C8669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2768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D6FF"/>
                </a:solidFill>
              </a:defRPr>
            </a:pPr>
            <a:r>
              <a:rPr sz="975" b="1">
                <a:solidFill>
                  <a:srgbClr val="27D6FF"/>
                </a:solidFill>
              </a:rPr>
              <a:t>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2A1965-5365-47FA-8C66-0F321B3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673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Terra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E72F37-3D6F-4505-9598-7E54CCD7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日常の幅広い仕事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D9512A-C777-4BE1-9FBF-24BD1A90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768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D6A2"/>
                </a:solidFill>
              </a:defRPr>
            </a:pPr>
            <a:r>
              <a:rPr sz="975" b="1">
                <a:solidFill>
                  <a:srgbClr val="31D6A2"/>
                </a:solidFill>
              </a:rPr>
              <a:t>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A6B2B7-033E-4962-9F2C-4C95A797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67325"/>
            <a:ext cx="3743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Luna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A182C1-A59B-4865-9929-0904F12A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24500"/>
            <a:ext cx="3743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内容が明確で、速度や利用効率を重視する仕事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F25800-C47A-42F9-A283-6C98DF15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0552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C8"/>
                </a:solidFill>
              </a:defRPr>
            </a:pPr>
            <a:r>
              <a:rPr sz="825" b="0">
                <a:solidFill>
                  <a:srgbClr val="AAB8C8"/>
                </a:solidFill>
              </a:rPr>
              <a:t>クレジット制のChatGPT Business、Enterprise、Edu向け。実際の消費量は会話や資料の長さ、回答量、推論、ツール利用などで変わります。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A94F55-A2E8-4F46-AABF-40AE3F03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105525"/>
            <a:ext cx="2447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0758A"/>
                </a:solidFill>
              </a:defRPr>
            </a:pPr>
            <a:r>
              <a:rPr sz="675" b="0">
                <a:solidFill>
                  <a:srgbClr val="60758A"/>
                </a:solidFill>
              </a:rPr>
              <a:t>出典：ChatGPT料金・クレジットレート（2026年9月1日確認）</a:t>
            </a:r>
          </a:p>
        </p:txBody>
      </p:sp>
    </p:spTree>
    <p:extLst>
      <p:ext uri="{BB962C8B-B14F-4D97-AF65-F5344CB8AC3E}">
        <p14:creationId xmlns:p14="http://schemas.microsoft.com/office/powerpoint/2010/main" val="172643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90C157-A665-4E79-B80F-D1FE909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6FF"/>
                </a:solidFill>
              </a:defRPr>
            </a:pPr>
            <a:r>
              <a:rPr sz="825" b="1">
                <a:solidFill>
                  <a:srgbClr val="27D6FF"/>
                </a:solidFill>
              </a:rPr>
              <a:t>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2839A-7AEA-414C-96ED-C816FE60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8C8"/>
                </a:solidFill>
              </a:defRPr>
            </a:pPr>
            <a:r>
              <a:rPr sz="825" b="1">
                <a:solidFill>
                  <a:srgbClr val="AAB8C8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5CEAC-69C0-4E18-8F0A-E69EEFFE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B9C0A-EEF0-4CB7-88C1-FDD11534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B34A8-F977-46AE-82B2-BFD84104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28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CHATGPT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28E91-4BF8-42C5-BCFE-67EBBD49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MCPを使うと、ChatGPTから外部の機器やサービスを操作できる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9142C-FA42-49F3-B000-E7880860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E230D-50CA-40EE-AA44-C0381F12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</a:defRPr>
            </a:pPr>
            <a:r>
              <a:rPr sz="1350" b="0">
                <a:solidFill>
                  <a:srgbClr val="F7FAFC"/>
                </a:solidFill>
              </a:rPr>
              <a:t>MCPは、ChatGPTやCodexと、外部のデータ、サービス、機器をつなぐ仕組みです。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E2F88-2057-4F83-B09C-178A3CF3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C8"/>
                </a:solidFill>
              </a:defRPr>
            </a:pPr>
            <a:r>
              <a:rPr sz="1200" b="0">
                <a:solidFill>
                  <a:srgbClr val="AAB8C8"/>
                </a:solidFill>
              </a:rPr>
              <a:t>この環境で使用している「twain-scanner MCP」は、ChatGPTからスキャナを操作できるようにするための接続部分です。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F3B3D-25CD-46D3-9A35-9D6AA152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562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348F4-AC35-4E2B-87CA-7FD8B95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ユーザーの依頼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B464D-A047-4EFF-B8A4-7FB58535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71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CFF"/>
                </a:solidFill>
              </a:defRPr>
            </a:pPr>
            <a:r>
              <a:rPr sz="1650" b="1">
                <a:solidFill>
                  <a:srgbClr val="248C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A4142-5AA6-4DE4-9FE5-B7833011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62250"/>
            <a:ext cx="1562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9F171-DF54-44E4-8EC1-FFC545AC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24175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ChatGPT / 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C2A5C-7A52-4A2F-BDA1-4784096A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71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CFF"/>
                </a:solidFill>
              </a:defRPr>
            </a:pPr>
            <a:r>
              <a:rPr sz="1650" b="1">
                <a:solidFill>
                  <a:srgbClr val="248C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E9A81-DE75-49E2-9230-76E46FD1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62250"/>
            <a:ext cx="1562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F30"/>
          </a:solidFill>
          <a:ln xmlns:a="http://schemas.openxmlformats.org/drawingml/2006/main" w="9525">
            <a:solidFill>
              <a:srgbClr val="27D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92F8B-F6BC-4CED-8AD8-D3510277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24175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D6FF"/>
                </a:solidFill>
              </a:defRPr>
            </a:pPr>
            <a:r>
              <a:rPr sz="975" b="1">
                <a:solidFill>
                  <a:srgbClr val="27D6FF"/>
                </a:solidFill>
              </a:rPr>
              <a:t>twain-scanner MCP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1B8FE-CC84-468D-AEC3-C4ECEBF8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71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CFF"/>
                </a:solidFill>
              </a:defRPr>
            </a:pPr>
            <a:r>
              <a:rPr sz="1650" b="1">
                <a:solidFill>
                  <a:srgbClr val="248C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020EF-E0C3-4A1F-8D24-EA0A2344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1562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E6457-8658-4CE8-BB7C-33A22C15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Python / FastMCP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D68F8-078A-43C0-BFA9-5089548A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71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CFF"/>
                </a:solidFill>
              </a:defRPr>
            </a:pPr>
            <a:r>
              <a:rPr sz="1650" b="1">
                <a:solidFill>
                  <a:srgbClr val="248CF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37599-5212-4214-9CAE-060F7C04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1562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BBF0E-9DE0-4C64-8C77-80D2C6D0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TWAINドライバー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5DD10-0C38-444C-A6B2-7E37ABBE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71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CFF"/>
                </a:solidFill>
              </a:defRPr>
            </a:pPr>
            <a:r>
              <a:rPr sz="1650" b="1">
                <a:solidFill>
                  <a:srgbClr val="248CFF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D9B06-A759-4772-8286-759DF7DD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62250"/>
            <a:ext cx="1562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9453F-73F9-46F2-AD22-C8B592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24175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スキャナ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C9FC2-6002-45BA-92CE-A343ECCB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533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29234E-95B3-4CC3-B45E-E08D64D9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D6FF"/>
                </a:solidFill>
              </a:defRPr>
            </a:pPr>
            <a:r>
              <a:rPr sz="1425" b="1">
                <a:solidFill>
                  <a:srgbClr val="27D6FF"/>
                </a:solidFill>
              </a:rPr>
              <a:t>利用者の依頼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F394D-0938-4BDF-A06E-BF201080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「原稿を300dpiでスキャンして保存してください」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086AA-8A1A-4E54-B7E0-D39F106D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4483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01F30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8D4D69-234A-49AE-98A9-F38C8D82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D6A2"/>
                </a:solidFill>
              </a:defRPr>
            </a:pPr>
            <a:r>
              <a:rPr sz="1425" b="1">
                <a:solidFill>
                  <a:srgbClr val="31D6A2"/>
                </a:solidFill>
              </a:rPr>
              <a:t>結果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5B0A16-163E-4B55-9E65-EA20077C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489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</a:defRPr>
            </a:pPr>
            <a:r>
              <a:rPr sz="1350" b="0">
                <a:solidFill>
                  <a:srgbClr val="F7FAFC"/>
                </a:solidFill>
              </a:rPr>
              <a:t>スキャンした画像や機器の状態が、逆の流れでChatGPTに返されます。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77E36B-EF33-4BD5-B69A-F300C22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8C8"/>
                </a:solidFill>
              </a:defRPr>
            </a:pPr>
            <a:r>
              <a:rPr sz="1050" b="0">
                <a:solidFill>
                  <a:srgbClr val="AAB8C8"/>
                </a:solidFill>
              </a:rPr>
              <a:t>twain-scanner MCPは、Python、FastMCP、TWAINを組み合わせたこの環境独自の例です。すべてのMCPが同じ技術を使うわけではありません。機器の接続、ドライバー、アクセス権限、実機での動作は人が確認します。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844400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28E354-5D51-4FFC-9ACB-38C6C91F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6FF"/>
                </a:solidFill>
              </a:defRPr>
            </a:pPr>
            <a:r>
              <a:rPr sz="825" b="1">
                <a:solidFill>
                  <a:srgbClr val="27D6FF"/>
                </a:solidFill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ACC23-53A8-4C56-A470-522638B7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8C8"/>
                </a:solidFill>
              </a:defRPr>
            </a:pPr>
            <a:r>
              <a:rPr sz="825" b="1">
                <a:solidFill>
                  <a:srgbClr val="AAB8C8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2241F-C2DC-4CF9-ABBD-99C016C3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C1839-D348-4928-990C-75AEAA3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EF8ED-72E4-40EB-8FCE-68EE7F64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228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58A"/>
                </a:solidFill>
              </a:defRPr>
            </a:pPr>
            <a:r>
              <a:rPr sz="675" b="1">
                <a:solidFill>
                  <a:srgbClr val="60758A"/>
                </a:solidFill>
              </a:rPr>
              <a:t>CHATGPT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4587B-D458-4438-B9D3-5907A71F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長い作業では、重要な情報をファイルや指示に残しておく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3AC8B-7FEB-4CF4-88C1-E67C649D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1A345-8135-48F9-B75F-2717C390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</a:defRPr>
            </a:pPr>
            <a:r>
              <a:rPr sz="1350" b="0">
                <a:solidFill>
                  <a:srgbClr val="F7FAFC"/>
                </a:solidFill>
              </a:rPr>
              <a:t>ChatGPTが一度に参照できる情報量には上限があります。この範囲を「コンテキストウィンドウ」と呼びます。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04251-F595-426A-BC79-10E315C8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会話の履歴、依頼内容、添付資料、コード、ツールの実行結果などは、すべてこの範囲に含まれます。情報が増えると、古い会話や作業の経緯を短い要約にまとめ、作業を続けるための空きを作ることがあります。これを「コンパクション」と呼び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0B195-2793-45E9-B363-37F2E2CC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52197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C1724"/>
          </a:solidFill>
          <a:ln xmlns:a="http://schemas.openxmlformats.org/drawingml/2006/main" w="9525">
            <a:solidFill>
              <a:srgbClr val="21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8B0F2-4760-4E1C-B1D6-ABDB1D50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D6FF"/>
                </a:solidFill>
              </a:defRPr>
            </a:pPr>
            <a:r>
              <a:rPr sz="1500" b="1">
                <a:solidFill>
                  <a:srgbClr val="27D6FF"/>
                </a:solidFill>
              </a:rPr>
              <a:t>コンテキストウィンドウ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CC4BE-BBCB-4685-9B63-A1124270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机の上に広げられる資料の量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CBD1E-37FE-4794-B5C7-1EDCA329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会話・資料・コード・実行結果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88985-C800-4A01-AD48-930744EA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52197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1F30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ECB06-0722-4E17-AC44-31C119A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38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D6A2"/>
                </a:solidFill>
              </a:defRPr>
            </a:pPr>
            <a:r>
              <a:rPr sz="1500" b="1">
                <a:solidFill>
                  <a:srgbClr val="31D6A2"/>
                </a:solidFill>
              </a:rPr>
              <a:t>コンパクション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E7D5A-124B-43ED-8A63-B9A1465D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古い資料を要点メモにまとめる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EBF2A-FA27-4662-BB51-90DCF774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29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8C8"/>
                </a:solidFill>
              </a:defRPr>
            </a:pPr>
            <a:r>
              <a:rPr sz="1125" b="0">
                <a:solidFill>
                  <a:srgbClr val="AAB8C8"/>
                </a:solidFill>
              </a:rPr>
              <a:t>細かな数値や言い回しが省略される場合がある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541AC-157C-43C4-96EA-C0610CEC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D6FF"/>
                </a:solidFill>
              </a:defRPr>
            </a:pPr>
            <a:r>
              <a:rPr sz="1500" b="1">
                <a:solidFill>
                  <a:srgbClr val="27D6FF"/>
                </a:solidFill>
              </a:rPr>
              <a:t>長い作業を安定して進めるためのポイント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EDABC-284B-49F1-842E-1946F9D4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8CFF"/>
                </a:solidFill>
              </a:defRPr>
            </a:pPr>
            <a:r>
              <a:rPr sz="975" b="1">
                <a:solidFill>
                  <a:srgbClr val="248CF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9BFF3-6E9B-493F-9E8B-29BA36E8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33950"/>
            <a:ext cx="3171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重要な条件を残す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E2D4B-0F0F-4297-9316-98F3C28D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91125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8C8"/>
                </a:solidFill>
              </a:defRPr>
            </a:pPr>
            <a:r>
              <a:rPr sz="1050" b="0">
                <a:solidFill>
                  <a:srgbClr val="AAB8C8"/>
                </a:solidFill>
              </a:rPr>
              <a:t>プロジェクトの共通指示やファイルに書いておく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CD637-A388-4B37-B34D-A1EC8B35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434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D6FF"/>
                </a:solidFill>
              </a:defRPr>
            </a:pPr>
            <a:r>
              <a:rPr sz="975" b="1">
                <a:solidFill>
                  <a:srgbClr val="27D6FF"/>
                </a:solidFill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89AEC-6670-40A7-8755-6BC86C76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33950"/>
            <a:ext cx="3457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資料を再確認する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869E9-BAEC-4535-81E8-4A7C439A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91125"/>
            <a:ext cx="3457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8C8"/>
                </a:solidFill>
              </a:defRPr>
            </a:pPr>
            <a:r>
              <a:rPr sz="1050" b="0">
                <a:solidFill>
                  <a:srgbClr val="AAB8C8"/>
                </a:solidFill>
              </a:rPr>
              <a:t>正確な数値や表現が必要な資料は、必要に応じてもう一度読み込ませる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0AEC2-8E0A-4AEC-9AEB-58B17412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434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D6A2"/>
                </a:solidFill>
              </a:defRPr>
            </a:pPr>
            <a:r>
              <a:rPr sz="975" b="1">
                <a:solidFill>
                  <a:srgbClr val="31D6A2"/>
                </a:solidFill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54595-3226-4551-8BF7-D0F1E803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33950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途中で整理する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31D1A-659A-4DC7-BB99-DABB02ED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191125"/>
            <a:ext cx="3267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8C8"/>
                </a:solidFill>
              </a:defRPr>
            </a:pPr>
            <a:r>
              <a:rPr sz="1050" b="0">
                <a:solidFill>
                  <a:srgbClr val="AAB8C8"/>
                </a:solidFill>
              </a:rPr>
              <a:t>決定事項や残っている作業を整理する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84D8D8-C76A-49F2-A0CA-CFA55D01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233"/>
          </a:solidFill>
          <a:ln xmlns:a="http://schemas.openxmlformats.org/drawingml/2006/main" w="9525">
            <a:solidFill>
              <a:srgbClr val="248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33501D-A4E1-4263-8E24-8FA5E0BE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1070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目的に合った機能を選び、重要な結果を人が確認する。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284829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2026-08-31T16:52:22.3960000Z</dcterms:created>
  <dcterms:modified xsi:type="dcterms:W3CDTF">2026-08-31T16:52:22.3960000Z</dcterms:modified>
</coreProperties>
</file>